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F57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" y="1828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UGC 누적 데이터 기재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1356848" y="54864"/>
            <a:ext cx="731520" cy="475488"/>
          </a:xfrm>
          <a:prstGeom prst="roundRect">
            <a:avLst>
              <a:gd name="adj" fmla="val 9615"/>
            </a:avLst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11356848" y="54864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64922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9E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© 2026 BAT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521440" y="64922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43891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BAT가 OYPB와 수행한 25-26년 2,165건의 </a:t>
            </a:r>
            <a:pPr algn="ctr" indent="0" marL="0">
              <a:buNone/>
            </a:pPr>
            <a:r>
              <a:rPr lang="en-US" sz="2100" b="1" dirty="0">
                <a:solidFill>
                  <a:srgbClr val="A3E6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UGC 협업 단가</a:t>
            </a:r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는,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48640" y="80467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A3E6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 라이선스를 포함해 </a:t>
            </a:r>
            <a:pPr algn="ctr" indent="0" marL="0">
              <a:buNone/>
            </a:pPr>
            <a:r>
              <a:rPr lang="en-US" sz="2100" b="1" dirty="0">
                <a:solidFill>
                  <a:srgbClr val="A3E6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30만원 수준</a:t>
            </a:r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 가성비와 합리성을 동시에 추구합니다.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48640" y="126187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D9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원고료 딜메이킹 전략은 고정 단가로 진행되는 일반적인 인플루언서 협업 단가 보다 효율·효과적입니다.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1691640"/>
            <a:ext cx="2072579" cy="3520440"/>
          </a:xfrm>
          <a:prstGeom prst="roundRect">
            <a:avLst>
              <a:gd name="adj" fmla="val 1324"/>
            </a:avLst>
          </a:prstGeom>
          <a:solidFill>
            <a:srgbClr val="1C1C1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837944"/>
            <a:ext cx="207257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건당 단가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331720"/>
            <a:ext cx="207257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A3E6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30만원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21792" y="3337560"/>
            <a:ext cx="192627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원고료 딜메이킹 전략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4087368"/>
            <a:ext cx="1853123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E9E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참고 : 정합 표본 1,770건</a:t>
            </a:r>
            <a:endParaRPr lang="en-US" sz="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E9E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실단가 290,531원</a:t>
            </a:r>
            <a:endParaRPr lang="en-US" sz="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E9E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UGC 협업 최다 아이디얼포맨 737건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804099" y="1691640"/>
            <a:ext cx="2072579" cy="3520440"/>
          </a:xfrm>
          <a:prstGeom prst="roundRect">
            <a:avLst>
              <a:gd name="adj" fmla="val 1324"/>
            </a:avLst>
          </a:prstGeom>
          <a:solidFill>
            <a:srgbClr val="1C1C1C"/>
          </a:solidFill>
          <a:ln/>
        </p:spPr>
      </p:sp>
      <p:sp>
        <p:nvSpPr>
          <p:cNvPr id="17" name="Text 15"/>
          <p:cNvSpPr/>
          <p:nvPr/>
        </p:nvSpPr>
        <p:spPr>
          <a:xfrm>
            <a:off x="2804099" y="1837944"/>
            <a:ext cx="207257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10만뷰 이상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04099" y="2331720"/>
            <a:ext cx="207257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A3E6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8.1%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2877251" y="3337560"/>
            <a:ext cx="192627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172건 / 2,112건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13827" y="4087368"/>
            <a:ext cx="1853123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E9E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참고 : 조회수 분포</a:t>
            </a:r>
            <a:endParaRPr lang="en-US" sz="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E9E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1) 50만뷰 이상 : 9건</a:t>
            </a:r>
            <a:endParaRPr lang="en-US" sz="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E9E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2) 10만뷰 이상 : 172건</a:t>
            </a:r>
            <a:endParaRPr lang="en-US" sz="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E9E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3) 5만뷰 이상 : 271건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059558" y="1691640"/>
            <a:ext cx="2072579" cy="3520440"/>
          </a:xfrm>
          <a:prstGeom prst="roundRect">
            <a:avLst>
              <a:gd name="adj" fmla="val 1324"/>
            </a:avLst>
          </a:prstGeom>
          <a:solidFill>
            <a:srgbClr val="1C1C1C"/>
          </a:solidFill>
          <a:ln/>
        </p:spPr>
      </p:sp>
      <p:sp>
        <p:nvSpPr>
          <p:cNvPr id="22" name="Text 20"/>
          <p:cNvSpPr/>
          <p:nvPr/>
        </p:nvSpPr>
        <p:spPr>
          <a:xfrm>
            <a:off x="5059558" y="1837944"/>
            <a:ext cx="207257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 조회수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59558" y="2331720"/>
            <a:ext cx="207257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A3E6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295.4만뷰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5132710" y="3337560"/>
            <a:ext cx="192627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바이오힐보 US (25.08.25)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69286" y="4087368"/>
            <a:ext cx="1853123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E9E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참고 : 50만뷰 이상 9건</a:t>
            </a:r>
            <a:endParaRPr lang="en-US" sz="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E9E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2위 브링그린 84.6만뷰 (26.02.10)</a:t>
            </a:r>
            <a:endParaRPr lang="en-US" sz="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E9E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3위 바이오힐보 US 79.2만뷰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315017" y="1691640"/>
            <a:ext cx="2072579" cy="3520440"/>
          </a:xfrm>
          <a:prstGeom prst="roundRect">
            <a:avLst>
              <a:gd name="adj" fmla="val 1324"/>
            </a:avLst>
          </a:prstGeom>
          <a:solidFill>
            <a:srgbClr val="1C1C1C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017" y="1837944"/>
            <a:ext cx="207257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최저 CPV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017" y="2331720"/>
            <a:ext cx="207257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A3E6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0.33원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7388169" y="3337560"/>
            <a:ext cx="192627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아이디얼포맨 (26.01.30)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24745" y="4087368"/>
            <a:ext cx="1853123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E9E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참고 : 단일 콘텐츠 기준</a:t>
            </a:r>
            <a:endParaRPr lang="en-US" sz="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E9E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조회수 746,820 / 원고료 250,000</a:t>
            </a:r>
            <a:endParaRPr lang="en-US" sz="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E9E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 평균 CPV 최저 브링그린 4.27원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9570476" y="1691640"/>
            <a:ext cx="2072579" cy="3520440"/>
          </a:xfrm>
          <a:prstGeom prst="roundRect">
            <a:avLst>
              <a:gd name="adj" fmla="val 1324"/>
            </a:avLst>
          </a:prstGeom>
          <a:solidFill>
            <a:srgbClr val="1C1C1C"/>
          </a:solidFill>
          <a:ln/>
        </p:spPr>
      </p:sp>
      <p:sp>
        <p:nvSpPr>
          <p:cNvPr id="32" name="Text 30"/>
          <p:cNvSpPr/>
          <p:nvPr/>
        </p:nvSpPr>
        <p:spPr>
          <a:xfrm>
            <a:off x="9570476" y="1837944"/>
            <a:ext cx="207257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CPV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570476" y="2331720"/>
            <a:ext cx="207257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A3E6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15원</a:t>
            </a:r>
            <a:endParaRPr lang="en-US" sz="3400" dirty="0"/>
          </a:p>
        </p:txBody>
      </p:sp>
      <p:sp>
        <p:nvSpPr>
          <p:cNvPr id="34" name="Text 32"/>
          <p:cNvSpPr/>
          <p:nvPr/>
        </p:nvSpPr>
        <p:spPr>
          <a:xfrm>
            <a:off x="9643628" y="3337560"/>
            <a:ext cx="192627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OYPB 11개 브랜드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680204" y="4087368"/>
            <a:ext cx="1853123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E9E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참고 : 세금계산서 발행 기준 15.61원</a:t>
            </a:r>
            <a:endParaRPr lang="en-US" sz="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E9E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건당 평균 조회수 최고 필리밀리 50,126뷰</a:t>
            </a:r>
            <a:endParaRPr lang="en-US" sz="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E9E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건당 조회수 27,312뷰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F57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" y="1828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파트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1356848" y="54864"/>
            <a:ext cx="731520" cy="475488"/>
          </a:xfrm>
          <a:prstGeom prst="roundRect">
            <a:avLst>
              <a:gd name="adj" fmla="val 9615"/>
            </a:avLst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11356848" y="54864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64922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9E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© 2026 BAT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521440" y="64922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43891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100% 전량의 2차 라이선스</a:t>
            </a:r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확보한 UGC는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48640" y="80467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편집본·클린본 모두 퍼포먼스 광고의 </a:t>
            </a:r>
            <a:pPr algn="ctr" indent="0" marL="0">
              <a:buNone/>
            </a:pPr>
            <a:r>
              <a:rPr lang="en-US" sz="2100" b="1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'장작 및 연료'</a:t>
            </a:r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사용되고 있습니다.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22960" y="1207008"/>
            <a:ext cx="10543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D9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조회당 비용 15.6원의 UGC는 평균 ROAS 527%의 고효율과 최대 1,297%(광고비 100만원 이상 소진 기준)의 수익율을 마크하고 있습니다.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1737360"/>
            <a:ext cx="2471852" cy="3474720"/>
          </a:xfrm>
          <a:prstGeom prst="roundRect">
            <a:avLst>
              <a:gd name="adj" fmla="val 1110"/>
            </a:avLst>
          </a:prstGeom>
          <a:solidFill>
            <a:srgbClr val="1C1C1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883664"/>
            <a:ext cx="24718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CPE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377440"/>
            <a:ext cx="24718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2,297원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96112" y="3383280"/>
            <a:ext cx="232554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OYPB 11개 브랜드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2688" y="4133088"/>
            <a:ext cx="225239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E9E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참고 : 세금계산서 발행 기준</a:t>
            </a:r>
            <a:endParaRPr lang="en-US" sz="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E9E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 최고 참여율 라운드어라운드 1.73%</a:t>
            </a:r>
            <a:endParaRPr lang="en-US" sz="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E9E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RFP 최고 아이디얼포맨 1.08%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514268" y="1737360"/>
            <a:ext cx="2471852" cy="3474720"/>
          </a:xfrm>
          <a:prstGeom prst="roundRect">
            <a:avLst>
              <a:gd name="adj" fmla="val 1110"/>
            </a:avLst>
          </a:prstGeom>
          <a:solidFill>
            <a:srgbClr val="1C1C1C"/>
          </a:solidFill>
          <a:ln/>
        </p:spPr>
      </p:sp>
      <p:sp>
        <p:nvSpPr>
          <p:cNvPr id="17" name="Text 15"/>
          <p:cNvSpPr/>
          <p:nvPr/>
        </p:nvSpPr>
        <p:spPr>
          <a:xfrm>
            <a:off x="3514268" y="1883664"/>
            <a:ext cx="24718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ROAS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14268" y="2377440"/>
            <a:ext cx="24718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527%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3587420" y="3383280"/>
            <a:ext cx="232554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OYPB 11개 브랜드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23996" y="4133088"/>
            <a:ext cx="225239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E9E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참고 : 파트너십 광고 단독 539%</a:t>
            </a:r>
            <a:endParaRPr lang="en-US" sz="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E9E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 최고 ROAS 필리밀리 866%</a:t>
            </a:r>
            <a:endParaRPr lang="en-US" sz="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E9E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매출 14.9억원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205576" y="1737360"/>
            <a:ext cx="2471852" cy="3474720"/>
          </a:xfrm>
          <a:prstGeom prst="roundRect">
            <a:avLst>
              <a:gd name="adj" fmla="val 1110"/>
            </a:avLst>
          </a:prstGeom>
          <a:solidFill>
            <a:srgbClr val="1C1C1C"/>
          </a:solidFill>
          <a:ln/>
        </p:spPr>
      </p:sp>
      <p:sp>
        <p:nvSpPr>
          <p:cNvPr id="22" name="Text 20"/>
          <p:cNvSpPr/>
          <p:nvPr/>
        </p:nvSpPr>
        <p:spPr>
          <a:xfrm>
            <a:off x="6205576" y="1883664"/>
            <a:ext cx="24718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 ROAS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05576" y="2377440"/>
            <a:ext cx="24718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1,297%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6278728" y="3383280"/>
            <a:ext cx="232554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단일 소재 100만원 이상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파트너십 광고비 소진 기준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15304" y="4133088"/>
            <a:ext cx="225239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E9E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참고 : 브링그린 (26.07.30)</a:t>
            </a:r>
            <a:endParaRPr lang="en-US" sz="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E9E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광고비 100만원 이상 78건 중 1위</a:t>
            </a:r>
            <a:endParaRPr lang="en-US" sz="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E9E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10만원 이상 기준 최대 3,681%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896883" y="1737360"/>
            <a:ext cx="2471852" cy="3474720"/>
          </a:xfrm>
          <a:prstGeom prst="roundRect">
            <a:avLst>
              <a:gd name="adj" fmla="val 1110"/>
            </a:avLst>
          </a:prstGeom>
          <a:solidFill>
            <a:srgbClr val="1C1C1C"/>
          </a:solidFill>
          <a:ln/>
        </p:spPr>
      </p:sp>
      <p:sp>
        <p:nvSpPr>
          <p:cNvPr id="27" name="Text 25"/>
          <p:cNvSpPr/>
          <p:nvPr/>
        </p:nvSpPr>
        <p:spPr>
          <a:xfrm>
            <a:off x="8896883" y="1883664"/>
            <a:ext cx="24718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CPA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896883" y="2377440"/>
            <a:ext cx="24718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3,269원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8970035" y="3383280"/>
            <a:ext cx="232554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구매 86,740건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집행 331건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006611" y="4133088"/>
            <a:ext cx="225239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E9E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참고 : 최저 CPA</a:t>
            </a:r>
            <a:endParaRPr lang="en-US" sz="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E9E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필리밀리 1,129원</a:t>
            </a:r>
            <a:endParaRPr lang="en-US" sz="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E9E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 활용 647건 (파트너십 478 · 영상가공 169)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2026-09-08T06:52:03Z</dcterms:created>
  <dcterms:modified xsi:type="dcterms:W3CDTF">2026-09-08T06:52:03Z</dcterms:modified>
</cp:coreProperties>
</file>